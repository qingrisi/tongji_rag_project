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2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bg>
      <p:bgPr>
        <a:solidFill>
          <a:srgbClr val="08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F"/>
          </a:solidFill>
          <a:ln w="0">
            <a:solidFill>
              <a:srgbClr val="07131F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44D5B3"/>
          </a:solidFill>
          <a:ln w="0">
            <a:solidFill>
              <a:srgbClr val="44D5B3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28625"/>
            <a:ext cx="5334000" cy="2667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44D5B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44D5B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FINA</a:t>
            </a:r>
            <a:r>
              <a:rPr lang="en-US" sz="975" b="1">
                <a:solidFill>
                  <a:srgbClr val="44D5B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</a:t>
            </a:r>
            <a:endParaRPr lang="en-US" sz="975" b="1">
              <a:solidFill>
                <a:srgbClr val="44D5B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75640" y="2940685"/>
            <a:ext cx="6286500" cy="4000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zh-CN" sz="1650" dirty="0" err="1">
                <a:solidFill>
                  <a:srgbClr val="44D5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——</a:t>
            </a:r>
            <a:r>
              <a:rPr lang="zh-CN" altLang="en-US" sz="1650" dirty="0" err="1">
                <a:solidFill>
                  <a:srgbClr val="44D5B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探索大语言模型在校园场景下的安全应用</a:t>
            </a:r>
            <a:endParaRPr lang="zh-CN" altLang="en-US" sz="1650" dirty="0" err="1">
              <a:solidFill>
                <a:srgbClr val="44D5B3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49960" y="3758565"/>
            <a:ext cx="6667500" cy="52959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袁艺铭 2350241</a:t>
            </a:r>
            <a:r>
              <a:rPr lang="en-US" sz="1125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6.25</a:t>
            </a:r>
            <a:endParaRPr lang="en-US" sz="1125" b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33400" y="6515100"/>
            <a:ext cx="11125200" cy="9525"/>
          </a:xfrm>
          <a:prstGeom prst="rect">
            <a:avLst/>
          </a:prstGeom>
          <a:solidFill>
            <a:srgbClr val="193447"/>
          </a:solidFill>
          <a:ln w="0">
            <a:solidFill>
              <a:srgbClr val="193447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1144250" y="6562725"/>
            <a:ext cx="514350" cy="1905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825" b="0">
              <a:solidFill>
                <a:srgbClr val="7890A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Text 4"/>
          <p:cNvSpPr/>
          <p:nvPr/>
        </p:nvSpPr>
        <p:spPr>
          <a:xfrm>
            <a:off x="675640" y="1937385"/>
            <a:ext cx="9836785" cy="897255"/>
          </a:xfrm>
          <a:prstGeom prst="rect">
            <a:avLst/>
          </a:prstGeom>
          <a:noFill/>
        </p:spPr>
        <p:txBody>
          <a:bodyPr wrap="square" lIns="508" tIns="508" rIns="508" bIns="508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altLang="zh-CN" sz="3200" b="1" dirty="0">
                <a:solidFill>
                  <a:srgbClr val="F8FAFC"/>
                </a:solidFill>
                <a:ea typeface="Noto Sans CJK SC" pitchFamily="34" charset="-122"/>
                <a:cs typeface="Noto Sans CJK SC" pitchFamily="34" charset="-120"/>
              </a:rPr>
              <a:t>SynapseQ：</a:t>
            </a:r>
            <a:r>
              <a:rPr lang="zh-CN" altLang="en-US" sz="3200" b="1" dirty="0">
                <a:solidFill>
                  <a:srgbClr val="F8FAFC"/>
                </a:solidFill>
                <a:ea typeface="Noto Sans CJK SC" pitchFamily="34" charset="-122"/>
                <a:cs typeface="Noto Sans CJK SC" pitchFamily="34" charset="-120"/>
              </a:rPr>
              <a:t>基于 </a:t>
            </a:r>
            <a:r>
              <a:rPr lang="en-US" altLang="zh-CN" sz="3200" b="1" dirty="0">
                <a:solidFill>
                  <a:srgbClr val="F8FAFC"/>
                </a:solidFill>
                <a:ea typeface="Noto Sans CJK SC" pitchFamily="34" charset="-122"/>
                <a:cs typeface="Noto Sans CJK SC" pitchFamily="34" charset="-120"/>
              </a:rPr>
              <a:t>RAG </a:t>
            </a:r>
            <a:r>
              <a:rPr lang="zh-CN" altLang="en-US" sz="3200" b="1" dirty="0">
                <a:solidFill>
                  <a:srgbClr val="F8FAFC"/>
                </a:solidFill>
                <a:ea typeface="Noto Sans CJK SC" pitchFamily="34" charset="-122"/>
                <a:cs typeface="Noto Sans CJK SC" pitchFamily="34" charset="-120"/>
              </a:rPr>
              <a:t>技术的同济大学智能问答助手</a:t>
            </a:r>
            <a:endParaRPr lang="zh-CN" altLang="en-US" sz="3200" b="1" dirty="0">
              <a:solidFill>
                <a:srgbClr val="F8FAFC"/>
              </a:solidFill>
              <a:ea typeface="Noto Sans CJK SC" pitchFamily="34" charset="-122"/>
              <a:cs typeface="Noto Sans CJK SC" pitchFamily="34" charset="-12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6695" y="3670300"/>
            <a:ext cx="7962900" cy="30829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F"/>
          </a:solidFill>
          <a:ln w="0">
            <a:solidFill>
              <a:srgbClr val="07131F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44D5B3"/>
          </a:solidFill>
          <a:ln w="0">
            <a:solidFill>
              <a:srgbClr val="44D5B3"/>
            </a:solidFill>
            <a:prstDash val="solid"/>
          </a:ln>
        </p:spPr>
      </p:sp>
      <p:sp>
        <p:nvSpPr>
          <p:cNvPr id="3" name="kicker-02-marker"/>
          <p:cNvSpPr>
            <a:spLocks noGrp="1"/>
          </p:cNvSpPr>
          <p:nvPr/>
        </p:nvSpPr>
        <p:spPr>
          <a:xfrm>
            <a:off x="533400" y="400050"/>
            <a:ext cx="76200" cy="76200"/>
          </a:xfrm>
          <a:prstGeom prst="rect">
            <a:avLst/>
          </a:prstGeom>
          <a:solidFill>
            <a:srgbClr val="44D5B3"/>
          </a:solidFill>
          <a:ln w="0">
            <a:solidFill>
              <a:srgbClr val="44D5B3"/>
            </a:solidFill>
            <a:prstDash val="solid"/>
          </a:ln>
        </p:spPr>
      </p:sp>
      <p:sp>
        <p:nvSpPr>
          <p:cNvPr id="4" name="kicker-02-label"/>
          <p:cNvSpPr>
            <a:spLocks noGrp="1"/>
          </p:cNvSpPr>
          <p:nvPr/>
        </p:nvSpPr>
        <p:spPr>
          <a:xfrm>
            <a:off x="723900" y="314325"/>
            <a:ext cx="4572000" cy="2667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ROADMAP</a:t>
            </a:r>
            <a:endParaRPr sz="900" b="1">
              <a:solidFill>
                <a:srgbClr val="7890A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85800"/>
            <a:ext cx="11049000" cy="6286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>
              <a:defRPr sz="28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3600" b="1" dirty="0" err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3600" b="1" dirty="0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2038350"/>
            <a:ext cx="609600" cy="3810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2100" b="1">
                <a:solidFill>
                  <a:srgbClr val="44D5B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44D5B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2100" b="1">
              <a:solidFill>
                <a:srgbClr val="44D5B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66850" y="1990725"/>
            <a:ext cx="2857500" cy="428625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3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350" b="1" dirty="0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项目背景与痛点</a:t>
            </a:r>
            <a:endParaRPr lang="zh-CN" altLang="en-US" sz="1350" b="1" dirty="0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476750" y="1990725"/>
            <a:ext cx="6667500" cy="428625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95000"/>
              </a:lnSpc>
              <a:buClrTx/>
              <a:buSzTx/>
              <a:buFontTx/>
            </a:pPr>
            <a:r>
              <a:rPr lang="zh-CN" altLang="en-US" sz="120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解决信息孤岛、模型幻觉，规避个人隐私泄露风险。</a:t>
            </a:r>
            <a:endParaRPr lang="zh-CN" altLang="en-US" sz="120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33400" y="2524125"/>
            <a:ext cx="10744200" cy="9525"/>
          </a:xfrm>
          <a:prstGeom prst="rect">
            <a:avLst/>
          </a:prstGeom>
          <a:solidFill>
            <a:srgbClr val="193447"/>
          </a:solidFill>
          <a:ln w="0">
            <a:solidFill>
              <a:srgbClr val="193447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9600" y="2705100"/>
            <a:ext cx="609600" cy="3810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2100" b="1">
                <a:solidFill>
                  <a:srgbClr val="F6C85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F6C8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2100" b="1">
              <a:solidFill>
                <a:srgbClr val="F6C85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466850" y="2657475"/>
            <a:ext cx="2857500" cy="428625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3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350" b="1" dirty="0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核心方案设计</a:t>
            </a:r>
            <a:endParaRPr lang="zh-CN" altLang="en-US" sz="1350" b="1" dirty="0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476750" y="2657475"/>
            <a:ext cx="6667500" cy="428625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95000"/>
              </a:lnSpc>
              <a:buClrTx/>
              <a:buSzTx/>
              <a:buFontTx/>
            </a:pPr>
            <a:r>
              <a:rPr lang="zh-CN" altLang="en-US" sz="120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RAG 检索增强，实现校园知识库垂直分层管理。</a:t>
            </a:r>
            <a:endParaRPr lang="zh-CN" altLang="en-US" sz="120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33400" y="3190875"/>
            <a:ext cx="10744200" cy="9525"/>
          </a:xfrm>
          <a:prstGeom prst="rect">
            <a:avLst/>
          </a:prstGeom>
          <a:solidFill>
            <a:srgbClr val="193447"/>
          </a:solidFill>
          <a:ln w="0">
            <a:solidFill>
              <a:srgbClr val="19344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09600" y="3371850"/>
            <a:ext cx="609600" cy="3810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2100" b="1">
                <a:solidFill>
                  <a:srgbClr val="6F8C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6F8C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2100" b="1">
              <a:solidFill>
                <a:srgbClr val="6F8C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466850" y="3324225"/>
            <a:ext cx="2857500" cy="428625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95000"/>
              </a:lnSpc>
              <a:defRPr sz="13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350" b="1" dirty="0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</a:rPr>
              <a:t>工作原理</a:t>
            </a:r>
            <a:endParaRPr lang="zh-CN" altLang="en-US" sz="1350" b="1" dirty="0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476750" y="3324225"/>
            <a:ext cx="6667500" cy="428625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95000"/>
              </a:lnSpc>
            </a:pPr>
            <a:r>
              <a:rPr lang="zh-CN" altLang="en-US" sz="120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完整链路梳理：身份识别、向量检索、Prompt 智能组装。</a:t>
            </a:r>
            <a:endParaRPr lang="zh-CN" altLang="en-US" sz="120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533400" y="3857625"/>
            <a:ext cx="10744200" cy="9525"/>
          </a:xfrm>
          <a:prstGeom prst="rect">
            <a:avLst/>
          </a:prstGeom>
          <a:solidFill>
            <a:srgbClr val="193447"/>
          </a:solidFill>
          <a:ln w="0">
            <a:solidFill>
              <a:srgbClr val="193447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09600" y="4038600"/>
            <a:ext cx="609600" cy="3810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2100" b="1">
                <a:solidFill>
                  <a:srgbClr val="44D5B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44D5B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2100" b="1">
              <a:solidFill>
                <a:srgbClr val="44D5B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1466850" y="3990975"/>
            <a:ext cx="2857500" cy="428625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3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3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项目亮点</a:t>
            </a:r>
            <a:endParaRPr lang="zh-CN" altLang="en-US" sz="1350" b="1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4476750" y="3990975"/>
            <a:ext cx="6667500" cy="428625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基于角色的物理权限隔离，固定思维链安全保障。</a:t>
            </a:r>
            <a:endParaRPr lang="zh-CN" altLang="en-US" sz="1200" b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533400" y="4524375"/>
            <a:ext cx="10744200" cy="9525"/>
          </a:xfrm>
          <a:prstGeom prst="rect">
            <a:avLst/>
          </a:prstGeom>
          <a:solidFill>
            <a:srgbClr val="193447"/>
          </a:solidFill>
          <a:ln w="0">
            <a:solidFill>
              <a:srgbClr val="193447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609600" y="4705350"/>
            <a:ext cx="609600" cy="3810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2100" b="1">
                <a:solidFill>
                  <a:srgbClr val="F47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F47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sz="2100" b="1">
              <a:solidFill>
                <a:srgbClr val="F47B6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1466850" y="4657725"/>
            <a:ext cx="2857500" cy="428625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3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350" b="1" dirty="0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系统功能演示</a:t>
            </a:r>
            <a:endParaRPr lang="zh-CN" altLang="en-US" sz="1350" b="1" dirty="0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4476750" y="4657725"/>
            <a:ext cx="6667500" cy="428625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对比访客与在校生的实操场景</a:t>
            </a:r>
            <a:endParaRPr lang="zh-CN" altLang="en-US" sz="1200" b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533400" y="5191125"/>
            <a:ext cx="10744200" cy="9525"/>
          </a:xfrm>
          <a:prstGeom prst="rect">
            <a:avLst/>
          </a:prstGeom>
          <a:solidFill>
            <a:srgbClr val="193447"/>
          </a:solidFill>
          <a:ln w="0">
            <a:solidFill>
              <a:srgbClr val="193447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33400" y="6515100"/>
            <a:ext cx="11125200" cy="9525"/>
          </a:xfrm>
          <a:prstGeom prst="rect">
            <a:avLst/>
          </a:prstGeom>
          <a:solidFill>
            <a:srgbClr val="193447"/>
          </a:solidFill>
          <a:ln w="0">
            <a:solidFill>
              <a:srgbClr val="193447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1144250" y="6562725"/>
            <a:ext cx="514350" cy="1905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825" b="0">
              <a:solidFill>
                <a:srgbClr val="7890A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43197" y="1343024"/>
            <a:ext cx="895350" cy="47626"/>
          </a:xfrm>
          <a:prstGeom prst="rect">
            <a:avLst/>
          </a:prstGeom>
          <a:solidFill>
            <a:srgbClr val="44D5B3"/>
          </a:solidFill>
          <a:ln w="0">
            <a:solidFill>
              <a:srgbClr val="44D5B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F"/>
          </a:solidFill>
          <a:ln w="0">
            <a:solidFill>
              <a:srgbClr val="07131F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44D5B3"/>
          </a:solidFill>
          <a:ln w="0">
            <a:solidFill>
              <a:srgbClr val="44D5B3"/>
            </a:solidFill>
            <a:prstDash val="solid"/>
          </a:ln>
        </p:spPr>
      </p:sp>
      <p:sp>
        <p:nvSpPr>
          <p:cNvPr id="3" name="kicker-08-marker"/>
          <p:cNvSpPr>
            <a:spLocks noGrp="1"/>
          </p:cNvSpPr>
          <p:nvPr/>
        </p:nvSpPr>
        <p:spPr>
          <a:xfrm>
            <a:off x="533400" y="400050"/>
            <a:ext cx="76200" cy="76200"/>
          </a:xfrm>
          <a:prstGeom prst="rect">
            <a:avLst/>
          </a:prstGeom>
          <a:solidFill>
            <a:srgbClr val="44D5B3"/>
          </a:solidFill>
          <a:ln w="0">
            <a:solidFill>
              <a:srgbClr val="44D5B3"/>
            </a:solidFill>
            <a:prstDash val="solid"/>
          </a:ln>
        </p:spPr>
      </p:sp>
      <p:sp>
        <p:nvSpPr>
          <p:cNvPr id="4" name="kicker-08-label"/>
          <p:cNvSpPr>
            <a:spLocks noGrp="1"/>
          </p:cNvSpPr>
          <p:nvPr/>
        </p:nvSpPr>
        <p:spPr>
          <a:xfrm>
            <a:off x="723900" y="314325"/>
            <a:ext cx="4572000" cy="2667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 dirty="0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CONTEXT</a:t>
            </a:r>
            <a:endParaRPr sz="900" b="1" dirty="0">
              <a:solidFill>
                <a:srgbClr val="7890A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85800"/>
            <a:ext cx="11049000" cy="6286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95000"/>
              </a:lnSpc>
            </a:pPr>
            <a:r>
              <a:rPr lang="zh-CN" altLang="en-US" sz="3200" b="1" dirty="0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项目背景与痛点</a:t>
            </a:r>
            <a:endParaRPr lang="zh-CN" altLang="en-US" sz="3200" b="1" dirty="0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333500"/>
            <a:ext cx="10572750" cy="4000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75" b="0" dirty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系统面向访客、学者、同济大学学生、教师。</a:t>
            </a:r>
            <a:endParaRPr lang="zh-CN" sz="1275" b="0" dirty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2038350"/>
            <a:ext cx="2533650" cy="2247900"/>
          </a:xfrm>
          <a:prstGeom prst="rect">
            <a:avLst/>
          </a:prstGeom>
          <a:solidFill>
            <a:srgbClr val="0D2231"/>
          </a:solidFill>
          <a:ln w="9525">
            <a:solidFill>
              <a:srgbClr val="19344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2209800"/>
            <a:ext cx="476250" cy="2667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44D5B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44D5B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050" b="1">
              <a:solidFill>
                <a:srgbClr val="44D5B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2647950"/>
            <a:ext cx="2095500" cy="3429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zh-CN" sz="1875" b="1" dirty="0" err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</a:rPr>
              <a:t>数据分散</a:t>
            </a:r>
            <a:endParaRPr lang="en-US" altLang="zh-CN" sz="1875" b="1" dirty="0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3078480"/>
            <a:ext cx="2095500" cy="1082584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>
              <a:defRPr sz="1125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125" b="0" dirty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学校的规章制度、教务通知、一卡通数据分散在不同平台。</a:t>
            </a:r>
            <a:endParaRPr lang="zh-CN" altLang="en-US" sz="1125" b="0" dirty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125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125" b="0" dirty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125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125" b="0" dirty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跨平台检索低效。</a:t>
            </a:r>
            <a:endParaRPr lang="zh-CN" altLang="en-US" sz="1125" b="0" dirty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125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125" b="0" dirty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125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125" b="0" dirty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师生查询时存在信息壁垒。</a:t>
            </a:r>
            <a:endParaRPr lang="zh-CN" altLang="en-US" sz="1125" b="0" dirty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314700" y="2038350"/>
            <a:ext cx="2533650" cy="2247900"/>
          </a:xfrm>
          <a:prstGeom prst="rect">
            <a:avLst/>
          </a:prstGeom>
          <a:solidFill>
            <a:srgbClr val="0D2231"/>
          </a:solidFill>
          <a:ln w="9525">
            <a:solidFill>
              <a:srgbClr val="19344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505200" y="2209800"/>
            <a:ext cx="476250" cy="2667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6F8C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6F8C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050" b="1">
              <a:solidFill>
                <a:srgbClr val="6F8C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505200" y="2647950"/>
            <a:ext cx="2095500" cy="3429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zh-CN" altLang="en-US" sz="1875" b="1" dirty="0" err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</a:rPr>
              <a:t>通用大模型幻觉</a:t>
            </a:r>
            <a:endParaRPr lang="zh-CN" altLang="en-US" sz="1875" b="1" dirty="0" err="1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505200" y="3143249"/>
            <a:ext cx="2095500" cy="938894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125" b="0" dirty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直接向通用大语言模型提问校园特定事务时，模型易产生事实性错误或提供过时指引。</a:t>
            </a:r>
            <a:endParaRPr lang="zh-CN" altLang="en-US" sz="1125" b="0" dirty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96000" y="2038350"/>
            <a:ext cx="2533650" cy="2247900"/>
          </a:xfrm>
          <a:prstGeom prst="rect">
            <a:avLst/>
          </a:prstGeom>
          <a:solidFill>
            <a:srgbClr val="0D2231"/>
          </a:solidFill>
          <a:ln w="9525">
            <a:solidFill>
              <a:srgbClr val="193447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286500" y="2209800"/>
            <a:ext cx="476250" cy="2667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F6C85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F6C8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050" b="1">
              <a:solidFill>
                <a:srgbClr val="F6C85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0" y="2647950"/>
            <a:ext cx="2095500" cy="3429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75" b="1" dirty="0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隐私数据安全隐患</a:t>
            </a:r>
            <a:endParaRPr lang="zh-CN" altLang="en-US" sz="1875" b="1" dirty="0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0" y="3143250"/>
            <a:ext cx="2095500" cy="2857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125" b="0" dirty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涉及学生成绩、个人课表及教师薪酬等隐私数据，无法也绝不能直接脱敏并上传至外部公有云模型。</a:t>
            </a:r>
            <a:endParaRPr lang="zh-CN" altLang="en-US" sz="1125" b="0" dirty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33400" y="6515100"/>
            <a:ext cx="11125200" cy="9525"/>
          </a:xfrm>
          <a:prstGeom prst="rect">
            <a:avLst/>
          </a:prstGeom>
          <a:solidFill>
            <a:srgbClr val="193447"/>
          </a:solidFill>
          <a:ln w="0">
            <a:solidFill>
              <a:srgbClr val="193447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1144250" y="6562725"/>
            <a:ext cx="514350" cy="1905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825" b="0">
              <a:solidFill>
                <a:srgbClr val="7890A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899909" y="4550228"/>
            <a:ext cx="3330485" cy="1605643"/>
          </a:xfrm>
          <a:prstGeom prst="rect">
            <a:avLst/>
          </a:prstGeom>
          <a:solidFill>
            <a:srgbClr val="0D2231"/>
          </a:solidFill>
          <a:ln w="9525">
            <a:solidFill>
              <a:srgbClr val="193447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7057208" y="4724400"/>
            <a:ext cx="2095500" cy="3429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altLang="zh-CN" sz="1875" b="1" dirty="0" err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</a:rPr>
              <a:t>系统建设目标</a:t>
            </a:r>
            <a:endParaRPr lang="en-US" altLang="zh-CN" sz="1875" b="1" dirty="0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 18"/>
          <p:cNvSpPr/>
          <p:nvPr/>
        </p:nvSpPr>
        <p:spPr>
          <a:xfrm>
            <a:off x="7346133" y="5257528"/>
            <a:ext cx="2670266" cy="8229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r>
              <a:rPr lang="zh-CN" altLang="en-US" dirty="0" err="1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</a:rPr>
              <a:t>便捷、准确、安全</a:t>
            </a:r>
            <a:endParaRPr lang="zh-CN" altLang="en-US" dirty="0" err="1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F"/>
          </a:solidFill>
          <a:ln w="0">
            <a:solidFill>
              <a:srgbClr val="0713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9144"/>
          </a:xfrm>
          <a:prstGeom prst="rect">
            <a:avLst/>
          </a:prstGeom>
          <a:solidFill>
            <a:srgbClr val="1F3A55"/>
          </a:solidFill>
          <a:ln w="12700">
            <a:solidFill>
              <a:srgbClr val="1F3A5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713232"/>
            <a:ext cx="9326880" cy="56692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zh-CN" altLang="en-US" sz="3200" b="1" dirty="0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</a:rPr>
              <a:t>核心方案设计</a:t>
            </a:r>
            <a:endParaRPr lang="zh-CN" altLang="en-US" sz="3200" b="1" dirty="0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" y="1335024"/>
            <a:ext cx="1051560" cy="50292"/>
          </a:xfrm>
          <a:prstGeom prst="rect">
            <a:avLst/>
          </a:prstGeom>
          <a:solidFill>
            <a:srgbClr val="44D5B3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1"/>
            </p:custDataLst>
          </p:nvPr>
        </p:nvSpPr>
        <p:spPr>
          <a:xfrm>
            <a:off x="640080" y="2267712"/>
            <a:ext cx="1755648" cy="566928"/>
          </a:xfrm>
          <a:prstGeom prst="rect">
            <a:avLst/>
          </a:prstGeom>
          <a:solidFill>
            <a:srgbClr val="0B1F35"/>
          </a:solidFill>
          <a:ln w="13970">
            <a:solidFill>
              <a:srgbClr val="22D3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用户提问</a:t>
            </a:r>
            <a:endParaRPr lang="en-US" sz="1300" dirty="0"/>
          </a:p>
        </p:txBody>
      </p:sp>
      <p:sp>
        <p:nvSpPr>
          <p:cNvPr id="12" name="Text 10"/>
          <p:cNvSpPr/>
          <p:nvPr>
            <p:custDataLst>
              <p:tags r:id="rId2"/>
            </p:custDataLst>
          </p:nvPr>
        </p:nvSpPr>
        <p:spPr>
          <a:xfrm>
            <a:off x="2926080" y="2267712"/>
            <a:ext cx="1755648" cy="566928"/>
          </a:xfrm>
          <a:prstGeom prst="rect">
            <a:avLst/>
          </a:prstGeom>
          <a:solidFill>
            <a:srgbClr val="0B1F35"/>
          </a:solidFill>
          <a:ln w="13970">
            <a:solidFill>
              <a:srgbClr val="8B5CF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搜索知识库</a:t>
            </a:r>
            <a:endParaRPr lang="zh-CN" altLang="en-US" sz="1300" b="1" dirty="0">
              <a:solidFill>
                <a:srgbClr val="F8FAFC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4" name="Shape 12"/>
          <p:cNvSpPr/>
          <p:nvPr>
            <p:custDataLst>
              <p:tags r:id="rId3"/>
            </p:custDataLst>
          </p:nvPr>
        </p:nvSpPr>
        <p:spPr>
          <a:xfrm flipV="1">
            <a:off x="4690745" y="2597785"/>
            <a:ext cx="494665" cy="4445"/>
          </a:xfrm>
          <a:prstGeom prst="line">
            <a:avLst/>
          </a:prstGeom>
          <a:noFill/>
          <a:ln w="17780">
            <a:solidFill>
              <a:srgbClr val="A7B7C7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>
            <p:custDataLst>
              <p:tags r:id="rId4"/>
            </p:custDataLst>
          </p:nvPr>
        </p:nvSpPr>
        <p:spPr>
          <a:xfrm>
            <a:off x="5212080" y="2267712"/>
            <a:ext cx="1755648" cy="566928"/>
          </a:xfrm>
          <a:prstGeom prst="rect">
            <a:avLst/>
          </a:prstGeom>
          <a:solidFill>
            <a:srgbClr val="0B1F35"/>
          </a:solidFill>
          <a:ln w="13970">
            <a:solidFill>
              <a:srgbClr val="10B98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提交给大模型</a:t>
            </a:r>
            <a:endParaRPr lang="zh-CN" altLang="en-US" sz="1300" b="1" dirty="0">
              <a:solidFill>
                <a:srgbClr val="F8FAFC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5"/>
            </p:custDataLst>
          </p:nvPr>
        </p:nvSpPr>
        <p:spPr>
          <a:xfrm>
            <a:off x="4161282" y="2006727"/>
            <a:ext cx="1609344" cy="38404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zh-CN" altLang="en-US" sz="1200" b="1" dirty="0">
                <a:solidFill>
                  <a:srgbClr val="A7B7C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参考资料</a:t>
            </a:r>
            <a:r>
              <a:rPr lang="en-US" altLang="zh-CN" sz="1200" b="1" dirty="0">
                <a:solidFill>
                  <a:srgbClr val="A7B7C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</a:t>
            </a:r>
            <a:r>
              <a:rPr lang="zh-CN" altLang="en-US" sz="1200" b="1" dirty="0">
                <a:solidFill>
                  <a:srgbClr val="A7B7C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提问</a:t>
            </a:r>
            <a:endParaRPr lang="zh-CN" altLang="en-US" sz="1200" b="1" dirty="0">
              <a:solidFill>
                <a:srgbClr val="A7B7C7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8" name="Text 16"/>
          <p:cNvSpPr/>
          <p:nvPr>
            <p:custDataLst>
              <p:tags r:id="rId6"/>
            </p:custDataLst>
          </p:nvPr>
        </p:nvSpPr>
        <p:spPr>
          <a:xfrm>
            <a:off x="7498080" y="2267712"/>
            <a:ext cx="1755648" cy="566928"/>
          </a:xfrm>
          <a:prstGeom prst="rect">
            <a:avLst/>
          </a:prstGeom>
          <a:solidFill>
            <a:srgbClr val="0B1F35"/>
          </a:solidFill>
          <a:ln w="1397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理解总结</a:t>
            </a:r>
            <a:endParaRPr lang="zh-CN" altLang="en-US" sz="1300" b="1" dirty="0">
              <a:solidFill>
                <a:srgbClr val="F8FAFC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1" name="Text 19"/>
          <p:cNvSpPr/>
          <p:nvPr>
            <p:custDataLst>
              <p:tags r:id="rId7"/>
            </p:custDataLst>
          </p:nvPr>
        </p:nvSpPr>
        <p:spPr>
          <a:xfrm>
            <a:off x="9784080" y="2267712"/>
            <a:ext cx="1755648" cy="566928"/>
          </a:xfrm>
          <a:prstGeom prst="rect">
            <a:avLst/>
          </a:prstGeom>
          <a:solidFill>
            <a:srgbClr val="0B1F35"/>
          </a:solidFill>
          <a:ln w="13970">
            <a:solidFill>
              <a:srgbClr val="3B82F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30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输出回答</a:t>
            </a:r>
            <a:endParaRPr lang="zh-CN" altLang="en-US" sz="1300" b="1" dirty="0">
              <a:solidFill>
                <a:srgbClr val="F8FAFC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071868" y="3910856"/>
            <a:ext cx="3383280" cy="1243584"/>
          </a:xfrm>
          <a:prstGeom prst="roundRect">
            <a:avLst/>
          </a:prstGeom>
          <a:solidFill>
            <a:srgbClr val="0B1F35"/>
          </a:solidFill>
          <a:ln w="12700">
            <a:solidFill>
              <a:srgbClr val="10B981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9508" y="4044587"/>
            <a:ext cx="1097280" cy="2286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核心价值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90638" y="4407934"/>
            <a:ext cx="2907792" cy="38404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>
              <a:lnSpc>
                <a:spcPct val="95000"/>
              </a:lnSpc>
            </a:pPr>
            <a:r>
              <a:rPr lang="zh-CN" sz="1400" dirty="0" err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便捷</a:t>
            </a:r>
            <a:r>
              <a:rPr lang="en-US" altLang="zh-CN" sz="1400" dirty="0" err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1400" dirty="0" err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准确</a:t>
            </a:r>
            <a:endParaRPr lang="zh-CN" altLang="en-US" sz="1400" dirty="0" err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44D5B3"/>
          </a:solidFill>
          <a:ln w="0">
            <a:solidFill>
              <a:srgbClr val="44D5B3"/>
            </a:solidFill>
            <a:prstDash val="solid"/>
          </a:ln>
        </p:spPr>
      </p:sp>
      <p:sp>
        <p:nvSpPr>
          <p:cNvPr id="35" name="kicker-08-marker"/>
          <p:cNvSpPr>
            <a:spLocks noGrp="1"/>
          </p:cNvSpPr>
          <p:nvPr/>
        </p:nvSpPr>
        <p:spPr>
          <a:xfrm>
            <a:off x="533400" y="400050"/>
            <a:ext cx="76200" cy="76200"/>
          </a:xfrm>
          <a:prstGeom prst="rect">
            <a:avLst/>
          </a:prstGeom>
          <a:solidFill>
            <a:srgbClr val="44D5B3"/>
          </a:solidFill>
          <a:ln w="0">
            <a:solidFill>
              <a:srgbClr val="44D5B3"/>
            </a:solidFill>
            <a:prstDash val="solid"/>
          </a:ln>
        </p:spPr>
      </p:sp>
      <p:sp>
        <p:nvSpPr>
          <p:cNvPr id="36" name="kicker-08-label"/>
          <p:cNvSpPr>
            <a:spLocks noGrp="1"/>
          </p:cNvSpPr>
          <p:nvPr/>
        </p:nvSpPr>
        <p:spPr>
          <a:xfrm>
            <a:off x="723900" y="314325"/>
            <a:ext cx="4572000" cy="2667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900" b="1" dirty="0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DESIGN</a:t>
            </a:r>
            <a:endParaRPr lang="en-US" sz="900" b="1" dirty="0">
              <a:solidFill>
                <a:srgbClr val="7890A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0080" y="1663700"/>
            <a:ext cx="5130165" cy="3429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zh-CN" altLang="en-US" sz="1875" b="1" dirty="0" err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</a:rPr>
              <a:t>引入</a:t>
            </a:r>
            <a:r>
              <a:rPr lang="en-US" altLang="zh-CN" sz="1875" b="1" dirty="0" err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</a:rPr>
              <a:t>RAG</a:t>
            </a:r>
            <a:r>
              <a:rPr lang="zh-CN" altLang="en-US" sz="1875" b="1" dirty="0" err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</a:rPr>
              <a:t>技术：</a:t>
            </a:r>
            <a:r>
              <a:rPr lang="zh-CN" altLang="en-US" sz="1875" b="1" dirty="0" err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检索增强生成</a:t>
            </a:r>
            <a:endParaRPr lang="zh-CN" altLang="en-US" sz="1875" b="1" dirty="0" err="1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0080" y="4065270"/>
            <a:ext cx="5130165" cy="3429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zh-CN" altLang="en-US" sz="1875" b="1" dirty="0" err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垂直领域数据分类管理</a:t>
            </a:r>
            <a:endParaRPr lang="zh-CN" altLang="en-US" sz="1875" b="1" dirty="0" err="1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59815" y="4524375"/>
            <a:ext cx="7037070" cy="2072005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indent="457200" algn="l">
              <a:buNone/>
              <a:defRPr sz="1125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125" b="0" dirty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根据数据敏感度与应用场景，将底层数据库划分为四大独立板块：</a:t>
            </a:r>
            <a:endParaRPr lang="zh-CN" altLang="en-US" sz="1125" b="0" dirty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125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en-US" altLang="zh-CN" sz="1125" b="0" dirty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algn="l">
              <a:buNone/>
              <a:defRPr sz="1125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公开资讯（</a:t>
            </a:r>
            <a:r>
              <a:rPr lang="en-US" altLang="zh-CN" sz="12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Standard） </a:t>
            </a:r>
            <a:r>
              <a:rPr lang="zh-CN" altLang="en-US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学术文献（</a:t>
            </a:r>
            <a:r>
              <a:rPr lang="en-US" altLang="zh-CN"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Knowledge）</a:t>
            </a:r>
            <a:endParaRPr lang="en-US" altLang="zh-CN" sz="1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algn="l">
              <a:buNone/>
              <a:defRPr sz="1125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en-US" altLang="zh-CN" sz="1200" b="1" dirty="0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2" algn="l">
              <a:buNone/>
              <a:defRPr sz="1125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校内通知（</a:t>
            </a:r>
            <a:r>
              <a:rPr lang="en-US" altLang="zh-CN" sz="12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Internal）  </a:t>
            </a:r>
            <a:r>
              <a:rPr lang="zh-CN" altLang="en-US" sz="12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个人档案（</a:t>
            </a:r>
            <a:r>
              <a:rPr lang="en-US" altLang="zh-CN" sz="12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Person_info）</a:t>
            </a:r>
            <a:endParaRPr lang="en-US" altLang="zh-CN" sz="12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hape 12"/>
          <p:cNvSpPr/>
          <p:nvPr>
            <p:custDataLst>
              <p:tags r:id="rId8"/>
            </p:custDataLst>
          </p:nvPr>
        </p:nvSpPr>
        <p:spPr>
          <a:xfrm flipV="1">
            <a:off x="2422525" y="2602230"/>
            <a:ext cx="494665" cy="4445"/>
          </a:xfrm>
          <a:prstGeom prst="line">
            <a:avLst/>
          </a:prstGeom>
          <a:noFill/>
          <a:ln w="17780">
            <a:solidFill>
              <a:srgbClr val="A7B7C7"/>
            </a:solidFill>
            <a:prstDash val="solid"/>
            <a:headEnd type="none"/>
            <a:tailEnd type="triangle"/>
          </a:ln>
        </p:spPr>
      </p:sp>
      <p:sp>
        <p:nvSpPr>
          <p:cNvPr id="29" name="Text 14"/>
          <p:cNvSpPr/>
          <p:nvPr>
            <p:custDataLst>
              <p:tags r:id="rId9"/>
            </p:custDataLst>
          </p:nvPr>
        </p:nvSpPr>
        <p:spPr>
          <a:xfrm>
            <a:off x="5834507" y="1412367"/>
            <a:ext cx="1609344" cy="38404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zh-CN" sz="1200" b="1" dirty="0">
                <a:solidFill>
                  <a:srgbClr val="A7B7C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限制</a:t>
            </a:r>
            <a:endParaRPr lang="zh-CN" sz="1200" b="1" dirty="0">
              <a:solidFill>
                <a:srgbClr val="A7B7C7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0" name="Shape 12"/>
          <p:cNvSpPr/>
          <p:nvPr>
            <p:custDataLst>
              <p:tags r:id="rId10"/>
            </p:custDataLst>
          </p:nvPr>
        </p:nvSpPr>
        <p:spPr>
          <a:xfrm rot="5400000" flipV="1">
            <a:off x="6387465" y="1908810"/>
            <a:ext cx="494665" cy="4445"/>
          </a:xfrm>
          <a:prstGeom prst="line">
            <a:avLst/>
          </a:prstGeom>
          <a:noFill/>
          <a:ln w="17780">
            <a:solidFill>
              <a:srgbClr val="A7B7C7"/>
            </a:solidFill>
            <a:prstDash val="solid"/>
            <a:headEnd type="none"/>
            <a:tailEnd type="triangle"/>
          </a:ln>
        </p:spPr>
      </p:sp>
      <p:sp>
        <p:nvSpPr>
          <p:cNvPr id="31" name="Shape 12"/>
          <p:cNvSpPr/>
          <p:nvPr>
            <p:custDataLst>
              <p:tags r:id="rId11"/>
            </p:custDataLst>
          </p:nvPr>
        </p:nvSpPr>
        <p:spPr>
          <a:xfrm flipV="1">
            <a:off x="6985635" y="2593340"/>
            <a:ext cx="494665" cy="4445"/>
          </a:xfrm>
          <a:prstGeom prst="line">
            <a:avLst/>
          </a:prstGeom>
          <a:noFill/>
          <a:ln w="17780">
            <a:solidFill>
              <a:srgbClr val="A7B7C7"/>
            </a:solidFill>
            <a:prstDash val="solid"/>
            <a:headEnd type="none"/>
            <a:tailEnd type="triangle"/>
          </a:ln>
        </p:spPr>
      </p:sp>
      <p:sp>
        <p:nvSpPr>
          <p:cNvPr id="32" name="Shape 12"/>
          <p:cNvSpPr/>
          <p:nvPr>
            <p:custDataLst>
              <p:tags r:id="rId12"/>
            </p:custDataLst>
          </p:nvPr>
        </p:nvSpPr>
        <p:spPr>
          <a:xfrm flipV="1">
            <a:off x="9262745" y="2593340"/>
            <a:ext cx="494665" cy="4445"/>
          </a:xfrm>
          <a:prstGeom prst="line">
            <a:avLst/>
          </a:prstGeom>
          <a:noFill/>
          <a:ln w="17780">
            <a:solidFill>
              <a:srgbClr val="A7B7C7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F"/>
          </a:solidFill>
          <a:ln w="0">
            <a:solidFill>
              <a:srgbClr val="07131F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44D5B3"/>
          </a:solidFill>
          <a:ln w="0">
            <a:solidFill>
              <a:srgbClr val="44D5B3"/>
            </a:solidFill>
            <a:prstDash val="solid"/>
          </a:ln>
        </p:spPr>
      </p:sp>
      <p:sp>
        <p:nvSpPr>
          <p:cNvPr id="3" name="kicker-03-marker"/>
          <p:cNvSpPr>
            <a:spLocks noGrp="1"/>
          </p:cNvSpPr>
          <p:nvPr/>
        </p:nvSpPr>
        <p:spPr>
          <a:xfrm>
            <a:off x="533400" y="400050"/>
            <a:ext cx="76200" cy="76200"/>
          </a:xfrm>
          <a:prstGeom prst="rect">
            <a:avLst/>
          </a:prstGeom>
          <a:solidFill>
            <a:srgbClr val="44D5B3"/>
          </a:solidFill>
          <a:ln w="0">
            <a:solidFill>
              <a:srgbClr val="44D5B3"/>
            </a:solidFill>
            <a:prstDash val="solid"/>
          </a:ln>
        </p:spPr>
      </p:sp>
      <p:sp>
        <p:nvSpPr>
          <p:cNvPr id="4" name="kicker-03-label"/>
          <p:cNvSpPr>
            <a:spLocks noGrp="1"/>
          </p:cNvSpPr>
          <p:nvPr/>
        </p:nvSpPr>
        <p:spPr>
          <a:xfrm>
            <a:off x="723900" y="314325"/>
            <a:ext cx="4572000" cy="2667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900" b="1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HOW IT WORKS</a:t>
            </a:r>
            <a:endParaRPr lang="en-US" altLang="zh-CN" sz="900" b="1">
              <a:solidFill>
                <a:srgbClr val="7890A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85800"/>
            <a:ext cx="11049000" cy="6286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95000"/>
              </a:lnSpc>
            </a:pPr>
            <a:r>
              <a:rPr lang="zh-CN" altLang="en-US" sz="2850" b="1" dirty="0" err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</a:rPr>
              <a:t>工作原理</a:t>
            </a:r>
            <a:endParaRPr lang="zh-CN" altLang="en-US" sz="2850" b="1" dirty="0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333500"/>
            <a:ext cx="10572750" cy="4000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75" b="0" dirty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系统的架构、工作流程</a:t>
            </a:r>
            <a:endParaRPr lang="zh-CN" altLang="en-US" sz="1275" b="0" dirty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495925" y="1952625"/>
            <a:ext cx="2000250" cy="1109980"/>
          </a:xfrm>
          <a:prstGeom prst="rect">
            <a:avLst/>
          </a:prstGeom>
          <a:solidFill>
            <a:srgbClr val="0D2231"/>
          </a:solidFill>
          <a:ln w="9525">
            <a:solidFill>
              <a:srgbClr val="193447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502910" y="1952625"/>
            <a:ext cx="76200" cy="1114425"/>
          </a:xfrm>
          <a:prstGeom prst="rect">
            <a:avLst/>
          </a:prstGeom>
          <a:solidFill>
            <a:srgbClr val="6F8CFF"/>
          </a:solidFill>
          <a:ln w="0">
            <a:solidFill>
              <a:srgbClr val="6F8CF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737860" y="2095500"/>
            <a:ext cx="1695450" cy="2667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3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身份校验</a:t>
            </a:r>
            <a:endParaRPr lang="zh-CN" altLang="en-US" sz="1350" b="1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710555" y="2393950"/>
            <a:ext cx="1703070" cy="4127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indent="457200" algn="l">
              <a:buNone/>
              <a:defRPr sz="105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05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鉴别当前用户身份（访客/学生/学者），动态分配可访问的底层数据库权限</a:t>
            </a:r>
            <a:endParaRPr lang="zh-CN" altLang="en-US" sz="1050" b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620000" y="1952625"/>
            <a:ext cx="2000250" cy="1113790"/>
          </a:xfrm>
          <a:prstGeom prst="rect">
            <a:avLst/>
          </a:prstGeom>
          <a:solidFill>
            <a:srgbClr val="0D2231"/>
          </a:solidFill>
          <a:ln w="9525">
            <a:solidFill>
              <a:srgbClr val="193447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620000" y="1952625"/>
            <a:ext cx="76200" cy="1107440"/>
          </a:xfrm>
          <a:prstGeom prst="rect">
            <a:avLst/>
          </a:prstGeom>
          <a:solidFill>
            <a:srgbClr val="44D5B3"/>
          </a:solidFill>
          <a:ln w="0">
            <a:solidFill>
              <a:srgbClr val="44D5B3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791450" y="2095500"/>
            <a:ext cx="1695450" cy="2667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3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高维向量检索</a:t>
            </a:r>
            <a:endParaRPr lang="zh-CN" altLang="en-US" sz="1350" b="1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791450" y="2400300"/>
            <a:ext cx="1676400" cy="276225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05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将用户自然语言问题转化为向量，在 </a:t>
            </a:r>
            <a:r>
              <a:rPr lang="en-US" altLang="zh-CN" sz="105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Milvus </a:t>
            </a:r>
            <a:r>
              <a:rPr lang="zh-CN" altLang="en-US" sz="105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数据库中计算余弦相似度</a:t>
            </a:r>
            <a:endParaRPr lang="zh-CN" altLang="en-US" sz="1050" b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845675" y="1952625"/>
            <a:ext cx="1943100" cy="1109980"/>
          </a:xfrm>
          <a:prstGeom prst="rect">
            <a:avLst/>
          </a:prstGeom>
          <a:solidFill>
            <a:srgbClr val="0D2231"/>
          </a:solidFill>
          <a:ln w="9525">
            <a:solidFill>
              <a:srgbClr val="193447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873615" y="1967230"/>
            <a:ext cx="90805" cy="1092835"/>
          </a:xfrm>
          <a:prstGeom prst="rect">
            <a:avLst/>
          </a:prstGeom>
          <a:solidFill>
            <a:srgbClr val="F47B63"/>
          </a:solidFill>
          <a:ln w="0">
            <a:solidFill>
              <a:srgbClr val="F47B63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153650" y="2095500"/>
            <a:ext cx="1371600" cy="2667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3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安全输出</a:t>
            </a:r>
            <a:endParaRPr lang="zh-CN" altLang="en-US" sz="1350" b="1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153650" y="2400300"/>
            <a:ext cx="1503045" cy="52197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05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召回的数据注入</a:t>
            </a:r>
            <a:r>
              <a:rPr lang="en-US" altLang="zh-CN" sz="105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 </a:t>
            </a:r>
            <a:r>
              <a:rPr lang="zh-CN" altLang="en-US" sz="105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模板，大模型根据上下文重构答案，并附带引用来源。</a:t>
            </a:r>
            <a:endParaRPr lang="zh-CN" altLang="en-US" sz="1050" b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334250" y="2219325"/>
            <a:ext cx="238125" cy="3048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875" b="1">
                <a:solidFill>
                  <a:srgbClr val="44D5B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44D5B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  <a:endParaRPr sz="1875" b="1">
              <a:solidFill>
                <a:srgbClr val="44D5B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696450" y="2219325"/>
            <a:ext cx="238125" cy="3048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875" b="1">
                <a:solidFill>
                  <a:srgbClr val="44D5B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44D5B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  <a:endParaRPr sz="1875" b="1">
              <a:solidFill>
                <a:srgbClr val="44D5B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33400" y="3209925"/>
            <a:ext cx="11125200" cy="9525"/>
          </a:xfrm>
          <a:prstGeom prst="rect">
            <a:avLst/>
          </a:prstGeom>
          <a:solidFill>
            <a:srgbClr val="193447"/>
          </a:solidFill>
          <a:ln w="0">
            <a:solidFill>
              <a:srgbClr val="193447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18795" y="1842770"/>
            <a:ext cx="2381250" cy="3238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lang="zh-CN" sz="1650" b="1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533400" y="6515100"/>
            <a:ext cx="11125200" cy="9525"/>
          </a:xfrm>
          <a:prstGeom prst="rect">
            <a:avLst/>
          </a:prstGeom>
          <a:solidFill>
            <a:srgbClr val="193447"/>
          </a:solidFill>
          <a:ln w="0">
            <a:solidFill>
              <a:srgbClr val="193447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11144250" y="6562725"/>
            <a:ext cx="514350" cy="1905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sz="825" b="0">
              <a:solidFill>
                <a:srgbClr val="7890A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2400300"/>
            <a:ext cx="4859655" cy="4026535"/>
          </a:xfrm>
          <a:prstGeom prst="rect">
            <a:avLst/>
          </a:prstGeom>
        </p:spPr>
      </p:pic>
      <p:sp>
        <p:nvSpPr>
          <p:cNvPr id="58" name="矩形 57"/>
          <p:cNvSpPr>
            <a:spLocks noGrp="1"/>
          </p:cNvSpPr>
          <p:nvPr/>
        </p:nvSpPr>
        <p:spPr>
          <a:xfrm>
            <a:off x="5495925" y="1391920"/>
            <a:ext cx="2381250" cy="3238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endParaRPr lang="zh-CN" sz="1650" b="1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807710" y="4135755"/>
            <a:ext cx="6196965" cy="130429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技术栈：</a:t>
            </a:r>
            <a:endParaRPr lang="zh-CN" sz="1650" b="1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6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1650" b="1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6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6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Vue3 | FastAPI | Milvus | MySQL </a:t>
            </a:r>
            <a:r>
              <a:rPr lang="en-US" altLang="zh-CN">
                <a:sym typeface="+mn-ea"/>
              </a:rPr>
              <a:t>| Redis </a:t>
            </a:r>
            <a:r>
              <a:rPr lang="en-US" altLang="zh-CN">
                <a:sym typeface="+mn-ea"/>
              </a:rPr>
              <a:t>| Docker Compose |</a:t>
            </a:r>
            <a:r>
              <a:rPr lang="en-US" altLang="zh-CN">
                <a:sym typeface="+mn-ea"/>
              </a:rPr>
              <a:t> </a:t>
            </a:r>
            <a:r>
              <a:rPr lang="en-US" altLang="zh-CN" sz="16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DashScope LLM</a:t>
            </a:r>
            <a:endParaRPr lang="en-US" altLang="zh-CN" sz="1650" b="1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F"/>
          </a:solidFill>
          <a:ln w="0">
            <a:solidFill>
              <a:srgbClr val="07131F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44D5B3"/>
          </a:solidFill>
          <a:ln w="0">
            <a:solidFill>
              <a:srgbClr val="44D5B3"/>
            </a:solidFill>
            <a:prstDash val="solid"/>
          </a:ln>
        </p:spPr>
      </p:sp>
      <p:sp>
        <p:nvSpPr>
          <p:cNvPr id="3" name="kicker-07-marker"/>
          <p:cNvSpPr>
            <a:spLocks noGrp="1"/>
          </p:cNvSpPr>
          <p:nvPr/>
        </p:nvSpPr>
        <p:spPr>
          <a:xfrm>
            <a:off x="533400" y="400050"/>
            <a:ext cx="76200" cy="76200"/>
          </a:xfrm>
          <a:prstGeom prst="rect">
            <a:avLst/>
          </a:prstGeom>
          <a:solidFill>
            <a:srgbClr val="44D5B3"/>
          </a:solidFill>
          <a:ln w="0">
            <a:solidFill>
              <a:srgbClr val="44D5B3"/>
            </a:solidFill>
            <a:prstDash val="solid"/>
          </a:ln>
        </p:spPr>
      </p:sp>
      <p:sp>
        <p:nvSpPr>
          <p:cNvPr id="4" name="kicker-07-label"/>
          <p:cNvSpPr>
            <a:spLocks noGrp="1"/>
          </p:cNvSpPr>
          <p:nvPr/>
        </p:nvSpPr>
        <p:spPr>
          <a:xfrm>
            <a:off x="723900" y="314325"/>
            <a:ext cx="4572000" cy="2667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900" b="1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HIGHLIGHT</a:t>
            </a:r>
            <a:endParaRPr lang="en-US" sz="900" b="1">
              <a:solidFill>
                <a:srgbClr val="7890A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85800"/>
            <a:ext cx="11049000" cy="6286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8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项目亮点</a:t>
            </a:r>
            <a:endParaRPr lang="zh-CN" altLang="en-US" sz="2850" b="1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1333500"/>
            <a:ext cx="10572750" cy="4000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75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数据权限隔离</a:t>
            </a:r>
            <a:endParaRPr lang="zh-CN" altLang="en-US" sz="1275" b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971675"/>
            <a:ext cx="5143500" cy="3429000"/>
          </a:xfrm>
          <a:prstGeom prst="rect">
            <a:avLst/>
          </a:prstGeom>
          <a:solidFill>
            <a:srgbClr val="0D2231"/>
          </a:solidFill>
          <a:ln w="9525">
            <a:solidFill>
              <a:srgbClr val="19344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2628900"/>
            <a:ext cx="4210050" cy="3238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数据权限隔离机制</a:t>
            </a:r>
            <a:endParaRPr lang="zh-CN" altLang="en-US" sz="1800" b="1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0100" y="3228975"/>
            <a:ext cx="57150" cy="57150"/>
          </a:xfrm>
          <a:prstGeom prst="rect">
            <a:avLst/>
          </a:prstGeom>
          <a:solidFill>
            <a:srgbClr val="44D5B3"/>
          </a:solidFill>
          <a:ln w="0">
            <a:solidFill>
              <a:srgbClr val="44D5B3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3152775"/>
            <a:ext cx="4114800" cy="4572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访客</a:t>
            </a:r>
            <a:r>
              <a:rPr lang="en-US" altLang="zh-CN"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&amp; </a:t>
            </a:r>
            <a:r>
              <a:rPr lang="zh-CN" altLang="en-US"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学者</a:t>
            </a:r>
            <a:r>
              <a:rPr lang="en-US" altLang="zh-CN"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&amp; </a:t>
            </a:r>
            <a:r>
              <a:rPr lang="zh-CN" altLang="en-US"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教师学生之间</a:t>
            </a:r>
            <a:endParaRPr lang="zh-CN" altLang="en-US" sz="1200" b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3762375"/>
            <a:ext cx="57150" cy="57150"/>
          </a:xfrm>
          <a:prstGeom prst="rect">
            <a:avLst/>
          </a:prstGeom>
          <a:solidFill>
            <a:srgbClr val="44D5B3"/>
          </a:solidFill>
          <a:ln w="0">
            <a:solidFill>
              <a:srgbClr val="44D5B3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3686175"/>
            <a:ext cx="4114800" cy="4572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校内师生个人之间</a:t>
            </a:r>
            <a:endParaRPr lang="zh-CN" sz="1200" b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981700" y="1971675"/>
            <a:ext cx="5676900" cy="3429000"/>
          </a:xfrm>
          <a:prstGeom prst="rect">
            <a:avLst/>
          </a:prstGeom>
          <a:solidFill>
            <a:srgbClr val="0D2231"/>
          </a:solidFill>
          <a:ln w="9525">
            <a:solidFill>
              <a:srgbClr val="193447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248400" y="3148330"/>
            <a:ext cx="4763770" cy="375920"/>
          </a:xfrm>
          <a:prstGeom prst="rect">
            <a:avLst/>
          </a:prstGeom>
          <a:solidFill>
            <a:srgbClr val="102637"/>
          </a:solidFill>
          <a:ln w="9525">
            <a:solidFill>
              <a:srgbClr val="193447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248400" y="3686175"/>
            <a:ext cx="4763770" cy="333375"/>
          </a:xfrm>
          <a:prstGeom prst="rect">
            <a:avLst/>
          </a:prstGeom>
          <a:solidFill>
            <a:srgbClr val="102637"/>
          </a:solidFill>
          <a:ln w="9525">
            <a:solidFill>
              <a:srgbClr val="193447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248400" y="4276090"/>
            <a:ext cx="4763770" cy="332740"/>
          </a:xfrm>
          <a:prstGeom prst="rect">
            <a:avLst/>
          </a:prstGeom>
          <a:solidFill>
            <a:srgbClr val="102637"/>
          </a:solidFill>
          <a:ln w="9525">
            <a:solidFill>
              <a:srgbClr val="193447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33400" y="5695950"/>
            <a:ext cx="11125200" cy="457200"/>
          </a:xfrm>
          <a:prstGeom prst="rect">
            <a:avLst/>
          </a:prstGeom>
          <a:solidFill>
            <a:srgbClr val="102637"/>
          </a:solidFill>
          <a:ln w="9525">
            <a:solidFill>
              <a:srgbClr val="193447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533400" y="6515100"/>
            <a:ext cx="11125200" cy="9525"/>
          </a:xfrm>
          <a:prstGeom prst="rect">
            <a:avLst/>
          </a:prstGeom>
          <a:solidFill>
            <a:srgbClr val="193447"/>
          </a:solidFill>
          <a:ln w="0">
            <a:solidFill>
              <a:srgbClr val="193447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1144250" y="6562725"/>
            <a:ext cx="514350" cy="1905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</a:t>
            </a:r>
            <a:endParaRPr sz="825" b="0">
              <a:solidFill>
                <a:srgbClr val="7890A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336665" y="2633345"/>
            <a:ext cx="4210050" cy="3238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规范大模型推理</a:t>
            </a:r>
            <a:endParaRPr lang="zh-CN" altLang="en-US" sz="1800" b="1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336665" y="3286125"/>
            <a:ext cx="5175885" cy="156464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重塑推理逻辑：通过工程化 </a:t>
            </a:r>
            <a:r>
              <a:rPr lang="en-US" altLang="zh-CN"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Prompt，</a:t>
            </a:r>
            <a:r>
              <a:rPr lang="zh-CN" altLang="en-US"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强制规范模型思考路径。</a:t>
            </a:r>
            <a:endParaRPr lang="zh-CN" altLang="en-US" sz="1200" b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200" b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en-US" altLang="zh-CN" sz="1200" b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四步链路：意图解析 ➔ 数据提取 ➔ 隐私核验 ➔ 回复构建。</a:t>
            </a:r>
            <a:endParaRPr lang="zh-CN" altLang="en-US" sz="1200" b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200" b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en-US" altLang="zh-CN" sz="1200" b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透明可审计：推理过程前端可视化，从逻辑层彻底阻断幻觉与越权。</a:t>
            </a:r>
            <a:endParaRPr lang="zh-CN" altLang="en-US" sz="1200" b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31F"/>
          </a:solidFill>
          <a:ln w="0">
            <a:solidFill>
              <a:srgbClr val="07131F"/>
            </a:solidFill>
            <a:prstDash val="solid"/>
          </a:ln>
        </p:spPr>
        <p:txBody>
          <a:bodyPr/>
          <a:p>
            <a:endParaRPr lang="en-US" altLang="zh-CN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44D5B3"/>
          </a:solidFill>
          <a:ln w="0">
            <a:solidFill>
              <a:srgbClr val="44D5B3"/>
            </a:solidFill>
            <a:prstDash val="solid"/>
          </a:ln>
        </p:spPr>
      </p:sp>
      <p:sp>
        <p:nvSpPr>
          <p:cNvPr id="3" name="kicker-07-marker"/>
          <p:cNvSpPr>
            <a:spLocks noGrp="1"/>
          </p:cNvSpPr>
          <p:nvPr/>
        </p:nvSpPr>
        <p:spPr>
          <a:xfrm>
            <a:off x="533400" y="400050"/>
            <a:ext cx="76200" cy="76200"/>
          </a:xfrm>
          <a:prstGeom prst="rect">
            <a:avLst/>
          </a:prstGeom>
          <a:solidFill>
            <a:srgbClr val="44D5B3"/>
          </a:solidFill>
          <a:ln w="0">
            <a:solidFill>
              <a:srgbClr val="44D5B3"/>
            </a:solidFill>
            <a:prstDash val="solid"/>
          </a:ln>
        </p:spPr>
      </p:sp>
      <p:sp>
        <p:nvSpPr>
          <p:cNvPr id="4" name="kicker-07-label"/>
          <p:cNvSpPr>
            <a:spLocks noGrp="1"/>
          </p:cNvSpPr>
          <p:nvPr/>
        </p:nvSpPr>
        <p:spPr>
          <a:xfrm>
            <a:off x="723900" y="314325"/>
            <a:ext cx="4572000" cy="2667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900" b="1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DEMONSTRATION</a:t>
            </a:r>
            <a:endParaRPr lang="en-US" sz="900" b="1">
              <a:solidFill>
                <a:srgbClr val="7890A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685800"/>
            <a:ext cx="11049000" cy="6286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8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50" b="1">
                <a:solidFill>
                  <a:srgbClr val="E9F1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系统功能演示</a:t>
            </a:r>
            <a:endParaRPr lang="zh-CN" altLang="en-US" sz="2850" b="1">
              <a:solidFill>
                <a:srgbClr val="E9F1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00100" y="3228975"/>
            <a:ext cx="57150" cy="57150"/>
          </a:xfrm>
          <a:prstGeom prst="rect">
            <a:avLst/>
          </a:prstGeom>
          <a:solidFill>
            <a:srgbClr val="44D5B3"/>
          </a:solidFill>
          <a:ln w="0">
            <a:solidFill>
              <a:srgbClr val="44D5B3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66800" y="3162300"/>
            <a:ext cx="4114800" cy="4572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前端：</a:t>
            </a:r>
            <a:r>
              <a:rPr lang="en-US" altLang="zh-CN" sz="1200" b="0">
                <a:solidFill>
                  <a:srgbClr val="B9CC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http://localhost:5173/</a:t>
            </a:r>
            <a:endParaRPr lang="en-US" altLang="zh-CN" sz="1200" b="0">
              <a:solidFill>
                <a:srgbClr val="B9CC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33400" y="6515100"/>
            <a:ext cx="11125200" cy="9525"/>
          </a:xfrm>
          <a:prstGeom prst="rect">
            <a:avLst/>
          </a:prstGeom>
          <a:solidFill>
            <a:srgbClr val="193447"/>
          </a:solidFill>
          <a:ln w="0">
            <a:solidFill>
              <a:srgbClr val="193447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1144250" y="6562725"/>
            <a:ext cx="514350" cy="1905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7890A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</a:t>
            </a:r>
            <a:endParaRPr sz="825" b="0">
              <a:solidFill>
                <a:srgbClr val="7890A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5810" y="1367790"/>
            <a:ext cx="8453120" cy="46424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6.25,&quot;left&quot;:42,&quot;top&quot;:156.75,&quot;width&quot;:846}"/>
</p:tagLst>
</file>

<file path=ppt/tags/tag2.xml><?xml version="1.0" encoding="utf-8"?>
<p:tagLst xmlns:p="http://schemas.openxmlformats.org/presentationml/2006/main">
  <p:tag name="KSO_WM_DIAGRAM_VIRTUALLY_FRAME" val="{&quot;height&quot;:296.25,&quot;left&quot;:42,&quot;top&quot;:156.75,&quot;width&quot;:846}"/>
</p:tagLst>
</file>

<file path=ppt/tags/tag3.xml><?xml version="1.0" encoding="utf-8"?>
<p:tagLst xmlns:p="http://schemas.openxmlformats.org/presentationml/2006/main">
  <p:tag name="KSO_WM_DIAGRAM_VIRTUALLY_FRAME" val="{&quot;height&quot;:296.25,&quot;left&quot;:42,&quot;top&quot;:156.75,&quot;width&quot;:846}"/>
</p:tagLst>
</file>

<file path=ppt/tags/tag4.xml><?xml version="1.0" encoding="utf-8"?>
<p:tagLst xmlns:p="http://schemas.openxmlformats.org/presentationml/2006/main">
  <p:tag name="KSO_WM_DIAGRAM_VIRTUALLY_FRAME" val="{&quot;height&quot;:296.25,&quot;left&quot;:42,&quot;top&quot;:156.75,&quot;width&quot;:846}"/>
</p:tagLst>
</file>

<file path=ppt/tags/tag5.xml><?xml version="1.0" encoding="utf-8"?>
<p:tagLst xmlns:p="http://schemas.openxmlformats.org/presentationml/2006/main">
  <p:tag name="KSO_WM_DIAGRAM_VIRTUALLY_FRAME" val="{&quot;height&quot;:296.25,&quot;left&quot;:42,&quot;top&quot;:156.75,&quot;width&quot;:846}"/>
</p:tagLst>
</file>

<file path=ppt/tags/tag6.xml><?xml version="1.0" encoding="utf-8"?>
<p:tagLst xmlns:p="http://schemas.openxmlformats.org/presentationml/2006/main">
  <p:tag name="KSO_WM_DIAGRAM_VIRTUALLY_FRAME" val="{&quot;height&quot;:296.25,&quot;left&quot;:42,&quot;top&quot;:156.75,&quot;width&quot;:846}"/>
</p:tagLst>
</file>

<file path=ppt/tags/tag7.xml><?xml version="1.0" encoding="utf-8"?>
<p:tagLst xmlns:p="http://schemas.openxmlformats.org/presentationml/2006/main">
  <p:tag name="KSO_WM_DIAGRAM_VIRTUALLY_FRAME" val="{&quot;height&quot;:296.25,&quot;left&quot;:42,&quot;top&quot;:156.75,&quot;width&quot;:846}"/>
</p:tagLst>
</file>

<file path=ppt/tags/tag8.xml><?xml version="1.0" encoding="utf-8"?>
<p:tagLst xmlns:p="http://schemas.openxmlformats.org/presentationml/2006/main">
  <p:tag name="KSO_WM_DIAGRAM_VIRTUALLY_FRAME" val="{&quot;height&quot;:296.25,&quot;left&quot;:42,&quot;top&quot;:156.75,&quot;width&quot;:846}"/>
</p:tagLst>
</file>

<file path=ppt/tags/tag9.xml><?xml version="1.0" encoding="utf-8"?>
<p:tagLst xmlns:p="http://schemas.openxmlformats.org/presentationml/2006/main">
  <p:tag name="KSO_WM_DIAGRAM_VIRTUALLY_FRAME" val="{&quot;height&quot;:296.25,&quot;left&quot;:42,&quot;top&quot;:156.75,&quot;width&quot;:846}"/>
</p:tagLst>
</file>

<file path=ppt/tags/tag10.xml><?xml version="1.0" encoding="utf-8"?>
<p:tagLst xmlns:p="http://schemas.openxmlformats.org/presentationml/2006/main">
  <p:tag name="KSO_WM_DIAGRAM_VIRTUALLY_FRAME" val="{&quot;height&quot;:296.25,&quot;left&quot;:42,&quot;top&quot;:156.75,&quot;width&quot;:846}"/>
</p:tagLst>
</file>

<file path=ppt/tags/tag11.xml><?xml version="1.0" encoding="utf-8"?>
<p:tagLst xmlns:p="http://schemas.openxmlformats.org/presentationml/2006/main">
  <p:tag name="KSO_WM_DIAGRAM_VIRTUALLY_FRAME" val="{&quot;height&quot;:296.25,&quot;left&quot;:42,&quot;top&quot;:156.75,&quot;width&quot;:846}"/>
</p:tagLst>
</file>

<file path=ppt/tags/tag12.xml><?xml version="1.0" encoding="utf-8"?>
<p:tagLst xmlns:p="http://schemas.openxmlformats.org/presentationml/2006/main">
  <p:tag name="KSO_WM_DIAGRAM_VIRTUALLY_FRAME" val="{&quot;height&quot;:296.25,&quot;left&quot;:42,&quot;top&quot;:156.75,&quot;width&quot;:846}"/>
</p:tagLst>
</file>

<file path=ppt/tags/tag13.xml><?xml version="1.0" encoding="utf-8"?>
<p:tagLst xmlns:p="http://schemas.openxmlformats.org/presentationml/2006/main">
  <p:tag name="KSO_WM_DIAGRAM_VIRTUALLY_FRAME" val="{&quot;height&quot;:296.25,&quot;left&quot;:42,&quot;top&quot;:156.75,&quot;width&quot;:846}"/>
</p:tagLst>
</file>

<file path=ppt/tags/tag14.xml><?xml version="1.0" encoding="utf-8"?>
<p:tagLst xmlns:p="http://schemas.openxmlformats.org/presentationml/2006/main">
  <p:tag name="KSO_WM_DIAGRAM_VIRTUALLY_FRAME" val="{&quot;height&quot;:296.25,&quot;left&quot;:42,&quot;top&quot;:156.75,&quot;width&quot;:846}"/>
</p:tagLst>
</file>

<file path=ppt/tags/tag15.xml><?xml version="1.0" encoding="utf-8"?>
<p:tagLst xmlns:p="http://schemas.openxmlformats.org/presentationml/2006/main">
  <p:tag name="KSO_WM_DIAGRAM_VIRTUALLY_FRAME" val="{&quot;height&quot;:296.25,&quot;left&quot;:42,&quot;top&quot;:156.75,&quot;width&quot;:846}"/>
</p:tagLst>
</file>

<file path=ppt/tags/tag16.xml><?xml version="1.0" encoding="utf-8"?>
<p:tagLst xmlns:p="http://schemas.openxmlformats.org/presentationml/2006/main">
  <p:tag name="KSO_WM_DIAGRAM_VIRTUALLY_FRAME" val="{&quot;height&quot;:296.25,&quot;left&quot;:42,&quot;top&quot;:156.75,&quot;width&quot;:846}"/>
</p:tagLst>
</file>

<file path=ppt/tags/tag17.xml><?xml version="1.0" encoding="utf-8"?>
<p:tagLst xmlns:p="http://schemas.openxmlformats.org/presentationml/2006/main">
  <p:tag name="KSO_WM_DIAGRAM_VIRTUALLY_FRAME" val="{&quot;height&quot;:296.25,&quot;left&quot;:42,&quot;top&quot;:156.75,&quot;width&quot;:846}"/>
</p:tagLst>
</file>

<file path=ppt/tags/tag18.xml><?xml version="1.0" encoding="utf-8"?>
<p:tagLst xmlns:p="http://schemas.openxmlformats.org/presentationml/2006/main">
  <p:tag name="KSO_WM_DIAGRAM_VIRTUALLY_FRAME" val="{&quot;height&quot;:296.25,&quot;left&quot;:42,&quot;top&quot;:156.75,&quot;width&quot;:846}"/>
</p:tagLst>
</file>

<file path=ppt/tags/tag19.xml><?xml version="1.0" encoding="utf-8"?>
<p:tagLst xmlns:p="http://schemas.openxmlformats.org/presentationml/2006/main">
  <p:tag name="KSO_WM_DIAGRAM_VIRTUALLY_FRAME" val="{&quot;height&quot;:296.25,&quot;left&quot;:42,&quot;top&quot;:156.75,&quot;width&quot;:846}"/>
</p:tagLst>
</file>

<file path=ppt/tags/tag20.xml><?xml version="1.0" encoding="utf-8"?>
<p:tagLst xmlns:p="http://schemas.openxmlformats.org/presentationml/2006/main">
  <p:tag name="KSO_WM_DIAGRAM_VIRTUALLY_FRAME" val="{&quot;height&quot;:296.25,&quot;left&quot;:42,&quot;top&quot;:156.75,&quot;width&quot;:846}"/>
</p:tagLst>
</file>

<file path=ppt/tags/tag21.xml><?xml version="1.0" encoding="utf-8"?>
<p:tagLst xmlns:p="http://schemas.openxmlformats.org/presentationml/2006/main">
  <p:tag name="KSO_WM_DIAGRAM_VIRTUALLY_FRAME" val="{&quot;height&quot;:114.49000000000001,&quot;left&quot;:50.4,&quot;top&quot;:148.31,&quot;width&quot;:858.24}"/>
</p:tagLst>
</file>

<file path=ppt/tags/tag22.xml><?xml version="1.0" encoding="utf-8"?>
<p:tagLst xmlns:p="http://schemas.openxmlformats.org/presentationml/2006/main">
  <p:tag name="KSO_WM_DIAGRAM_VIRTUALLY_FRAME" val="{&quot;height&quot;:114.49000000000001,&quot;left&quot;:50.4,&quot;top&quot;:148.31,&quot;width&quot;:858.24}"/>
</p:tagLst>
</file>

<file path=ppt/tags/tag23.xml><?xml version="1.0" encoding="utf-8"?>
<p:tagLst xmlns:p="http://schemas.openxmlformats.org/presentationml/2006/main">
  <p:tag name="KSO_WM_DIAGRAM_VIRTUALLY_FRAME" val="{&quot;height&quot;:114.49000000000001,&quot;left&quot;:50.4,&quot;top&quot;:148.31,&quot;width&quot;:858.24}"/>
</p:tagLst>
</file>

<file path=ppt/tags/tag24.xml><?xml version="1.0" encoding="utf-8"?>
<p:tagLst xmlns:p="http://schemas.openxmlformats.org/presentationml/2006/main">
  <p:tag name="KSO_WM_DIAGRAM_VIRTUALLY_FRAME" val="{&quot;height&quot;:114.49000000000001,&quot;left&quot;:50.4,&quot;top&quot;:148.31,&quot;width&quot;:858.24}"/>
</p:tagLst>
</file>

<file path=ppt/tags/tag25.xml><?xml version="1.0" encoding="utf-8"?>
<p:tagLst xmlns:p="http://schemas.openxmlformats.org/presentationml/2006/main">
  <p:tag name="KSO_WM_DIAGRAM_VIRTUALLY_FRAME" val="{&quot;height&quot;:114.49000000000001,&quot;left&quot;:50.4,&quot;top&quot;:148.31,&quot;width&quot;:858.24}"/>
</p:tagLst>
</file>

<file path=ppt/tags/tag26.xml><?xml version="1.0" encoding="utf-8"?>
<p:tagLst xmlns:p="http://schemas.openxmlformats.org/presentationml/2006/main">
  <p:tag name="KSO_WM_DIAGRAM_VIRTUALLY_FRAME" val="{&quot;height&quot;:114.49000000000001,&quot;left&quot;:50.4,&quot;top&quot;:148.31,&quot;width&quot;:858.24}"/>
</p:tagLst>
</file>

<file path=ppt/tags/tag27.xml><?xml version="1.0" encoding="utf-8"?>
<p:tagLst xmlns:p="http://schemas.openxmlformats.org/presentationml/2006/main">
  <p:tag name="KSO_WM_DIAGRAM_VIRTUALLY_FRAME" val="{&quot;height&quot;:114.49000000000001,&quot;left&quot;:50.4,&quot;top&quot;:148.31,&quot;width&quot;:858.24}"/>
</p:tagLst>
</file>

<file path=ppt/tags/tag28.xml><?xml version="1.0" encoding="utf-8"?>
<p:tagLst xmlns:p="http://schemas.openxmlformats.org/presentationml/2006/main">
  <p:tag name="KSO_WM_DIAGRAM_VIRTUALLY_FRAME" val="{&quot;height&quot;:114.49000000000001,&quot;left&quot;:50.4,&quot;top&quot;:148.31,&quot;width&quot;:858.24}"/>
</p:tagLst>
</file>

<file path=ppt/tags/tag29.xml><?xml version="1.0" encoding="utf-8"?>
<p:tagLst xmlns:p="http://schemas.openxmlformats.org/presentationml/2006/main">
  <p:tag name="KSO_WM_DIAGRAM_VIRTUALLY_FRAME" val="{&quot;height&quot;:114.49000000000001,&quot;left&quot;:50.4,&quot;top&quot;:148.31,&quot;width&quot;:858.24}"/>
</p:tagLst>
</file>

<file path=ppt/tags/tag30.xml><?xml version="1.0" encoding="utf-8"?>
<p:tagLst xmlns:p="http://schemas.openxmlformats.org/presentationml/2006/main">
  <p:tag name="KSO_WM_DIAGRAM_VIRTUALLY_FRAME" val="{&quot;height&quot;:114.49000000000001,&quot;left&quot;:50.4,&quot;top&quot;:148.31,&quot;width&quot;:858.24}"/>
</p:tagLst>
</file>

<file path=ppt/tags/tag31.xml><?xml version="1.0" encoding="utf-8"?>
<p:tagLst xmlns:p="http://schemas.openxmlformats.org/presentationml/2006/main">
  <p:tag name="KSO_WM_DIAGRAM_VIRTUALLY_FRAME" val="{&quot;height&quot;:114.49000000000001,&quot;left&quot;:50.4,&quot;top&quot;:148.31,&quot;width&quot;:858.24}"/>
</p:tagLst>
</file>

<file path=ppt/tags/tag32.xml><?xml version="1.0" encoding="utf-8"?>
<p:tagLst xmlns:p="http://schemas.openxmlformats.org/presentationml/2006/main">
  <p:tag name="KSO_WM_DIAGRAM_VIRTUALLY_FRAME" val="{&quot;height&quot;:114.49000000000001,&quot;left&quot;:50.4,&quot;top&quot;:148.31,&quot;width&quot;:858.24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1036</Words>
  <Application>WPS 演示</Application>
  <PresentationFormat>宽屏</PresentationFormat>
  <Paragraphs>176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Arial</vt:lpstr>
      <vt:lpstr>Noto Sans CJK SC</vt:lpstr>
      <vt:lpstr>Noto Sans CJK SC</vt:lpstr>
      <vt:lpstr>Noto Sans CJK SC</vt:lpstr>
      <vt:lpstr>微软雅黑</vt:lpstr>
      <vt:lpstr>Calibri</vt:lpstr>
      <vt:lpstr>Arial Unicode MS</vt:lpstr>
      <vt:lpstr>KSOF57165B2F</vt:lpstr>
      <vt:lpstr>Saturday Sans Regular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袁艺铭</dc:creator>
  <cp:lastModifiedBy>叶落零星宵</cp:lastModifiedBy>
  <cp:revision>11</cp:revision>
  <dcterms:created xsi:type="dcterms:W3CDTF">2023-08-09T12:44:00Z</dcterms:created>
  <dcterms:modified xsi:type="dcterms:W3CDTF">2026-06-24T14:51:38Z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C477663D87B7420292EE8616C3A67B19_12</vt:lpwstr>
  </property>
</Properties>
</file>